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uJcY6qUu9Wm90NE6cAYFkAXND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5D7848-8D37-479A-BD84-2734B98EE499}">
  <a:tblStyle styleId="{A75D7848-8D37-479A-BD84-2734B98EE4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50D4517-D457-435A-9ADC-99DFF23E313F}"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0f1f7c85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90f1f7c857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0f1f7c857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90f1f7c857_2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0f1f7c857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90f1f7c857_2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0f1f7c857_2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90f1f7c857_2_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0f1f7c857_2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90f1f7c857_2_3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0f1f7c857_2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90f1f7c857_2_4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1" name="Shape 41"/>
        <p:cNvGrpSpPr/>
        <p:nvPr/>
      </p:nvGrpSpPr>
      <p:grpSpPr>
        <a:xfrm>
          <a:off x="0" y="0"/>
          <a:ext cx="0" cy="0"/>
          <a:chOff x="0" y="0"/>
          <a:chExt cx="0" cy="0"/>
        </a:xfrm>
      </p:grpSpPr>
      <p:sp>
        <p:nvSpPr>
          <p:cNvPr id="42" name="Google Shape;42;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407886" y="1398133"/>
            <a:ext cx="9144000" cy="16208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CL"/>
              <a:t>Presentación Capstone</a:t>
            </a:r>
            <a:br>
              <a:rPr lang="es-CL"/>
            </a:br>
            <a:r>
              <a:rPr lang="es-CL" sz="3200"/>
              <a:t>“</a:t>
            </a:r>
            <a:r>
              <a:rPr i="1" lang="es-CL" sz="2200"/>
              <a:t>SIGES (Sistema de Gestión de Inventario)</a:t>
            </a:r>
            <a:r>
              <a:rPr lang="es-CL" sz="3200"/>
              <a:t>”</a:t>
            </a:r>
            <a:endParaRPr/>
          </a:p>
        </p:txBody>
      </p:sp>
      <p:sp>
        <p:nvSpPr>
          <p:cNvPr id="85" name="Google Shape;85;p1"/>
          <p:cNvSpPr txBox="1"/>
          <p:nvPr>
            <p:ph idx="1" type="subTitle"/>
          </p:nvPr>
        </p:nvSpPr>
        <p:spPr>
          <a:xfrm>
            <a:off x="1524000" y="3562999"/>
            <a:ext cx="9144000" cy="162083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None/>
            </a:pPr>
            <a:r>
              <a:rPr lang="es-CL" sz="3200"/>
              <a:t>Ingeniería Informática</a:t>
            </a:r>
            <a:endParaRPr/>
          </a:p>
          <a:p>
            <a:pPr indent="0" lvl="0" marL="0" rtl="0" algn="ctr">
              <a:lnSpc>
                <a:spcPct val="90000"/>
              </a:lnSpc>
              <a:spcBef>
                <a:spcPts val="1000"/>
              </a:spcBef>
              <a:spcAft>
                <a:spcPts val="0"/>
              </a:spcAft>
              <a:buClr>
                <a:schemeClr val="dk1"/>
              </a:buClr>
              <a:buSzPts val="1400"/>
              <a:buNone/>
            </a:pPr>
            <a:r>
              <a:rPr lang="es-CL" sz="1400"/>
              <a:t>Escuela de Informática y Telecomunicaciones</a:t>
            </a:r>
            <a:endParaRPr/>
          </a:p>
          <a:p>
            <a:pPr indent="0" lvl="0" marL="0" rtl="0" algn="ctr">
              <a:spcBef>
                <a:spcPts val="1000"/>
              </a:spcBef>
              <a:spcAft>
                <a:spcPts val="0"/>
              </a:spcAft>
              <a:buClr>
                <a:schemeClr val="dk1"/>
              </a:buClr>
              <a:buSzPts val="1400"/>
              <a:buNone/>
            </a:pPr>
            <a:r>
              <a:rPr lang="es-CL" sz="1400"/>
              <a:t>Sede [Puente Alto]</a:t>
            </a:r>
            <a:endParaRPr sz="1400"/>
          </a:p>
          <a:p>
            <a:pPr indent="0" lvl="0" marL="0" rtl="0" algn="ctr">
              <a:lnSpc>
                <a:spcPct val="90000"/>
              </a:lnSpc>
              <a:spcBef>
                <a:spcPts val="1000"/>
              </a:spcBef>
              <a:spcAft>
                <a:spcPts val="0"/>
              </a:spcAft>
              <a:buClr>
                <a:schemeClr val="dk1"/>
              </a:buClr>
              <a:buSzPts val="1400"/>
              <a:buNone/>
            </a:pPr>
            <a:r>
              <a:rPr lang="es-CL" sz="1400"/>
              <a:t>2025</a:t>
            </a:r>
            <a:endParaRPr/>
          </a:p>
          <a:p>
            <a:pPr indent="0" lvl="0" marL="0" rtl="0" algn="ctr">
              <a:lnSpc>
                <a:spcPct val="90000"/>
              </a:lnSpc>
              <a:spcBef>
                <a:spcPts val="1000"/>
              </a:spcBef>
              <a:spcAft>
                <a:spcPts val="0"/>
              </a:spcAft>
              <a:buClr>
                <a:schemeClr val="dk1"/>
              </a:buClr>
              <a:buSzPts val="1400"/>
              <a:buNone/>
            </a:pPr>
            <a:r>
              <a:t/>
            </a:r>
            <a:endParaRPr sz="1400"/>
          </a:p>
          <a:p>
            <a:pPr indent="0" lvl="0" marL="0" rtl="0" algn="ctr">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90f1f7c857_2_0"/>
          <p:cNvSpPr txBox="1"/>
          <p:nvPr/>
        </p:nvSpPr>
        <p:spPr>
          <a:xfrm>
            <a:off x="862077" y="2529116"/>
            <a:ext cx="29937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INTEGRANTES DEL PROYECTO</a:t>
            </a:r>
            <a:endParaRPr b="0" i="0" sz="1800" u="none" cap="none" strike="noStrike">
              <a:solidFill>
                <a:schemeClr val="dk1"/>
              </a:solidFill>
              <a:latin typeface="Calibri"/>
              <a:ea typeface="Calibri"/>
              <a:cs typeface="Calibri"/>
              <a:sym typeface="Calibri"/>
            </a:endParaRPr>
          </a:p>
        </p:txBody>
      </p:sp>
      <p:grpSp>
        <p:nvGrpSpPr>
          <p:cNvPr id="91" name="Google Shape;91;g390f1f7c857_2_0"/>
          <p:cNvGrpSpPr/>
          <p:nvPr/>
        </p:nvGrpSpPr>
        <p:grpSpPr>
          <a:xfrm>
            <a:off x="4407725" y="1391725"/>
            <a:ext cx="6781053" cy="4528167"/>
            <a:chOff x="-1" y="0"/>
            <a:chExt cx="6781053" cy="4590134"/>
          </a:xfrm>
        </p:grpSpPr>
        <p:sp>
          <p:nvSpPr>
            <p:cNvPr id="92" name="Google Shape;92;g390f1f7c857_2_0"/>
            <p:cNvSpPr/>
            <p:nvPr/>
          </p:nvSpPr>
          <p:spPr>
            <a:xfrm>
              <a:off x="0" y="0"/>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90f1f7c857_2_0"/>
            <p:cNvSpPr txBox="1"/>
            <p:nvPr/>
          </p:nvSpPr>
          <p:spPr>
            <a:xfrm>
              <a:off x="1462952" y="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Tamara Fernandez</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Jefe de Proyecto</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Planificación y coordinación del proyecto</a:t>
              </a:r>
              <a:endParaRPr b="0" i="0" sz="1600" u="none" cap="none" strike="noStrike">
                <a:solidFill>
                  <a:schemeClr val="lt1"/>
                </a:solidFill>
                <a:latin typeface="Calibri"/>
                <a:ea typeface="Calibri"/>
                <a:cs typeface="Calibri"/>
                <a:sym typeface="Calibri"/>
              </a:endParaRPr>
            </a:p>
          </p:txBody>
        </p:sp>
        <p:sp>
          <p:nvSpPr>
            <p:cNvPr id="94" name="Google Shape;94;g390f1f7c857_2_0"/>
            <p:cNvSpPr/>
            <p:nvPr/>
          </p:nvSpPr>
          <p:spPr>
            <a:xfrm>
              <a:off x="106749" y="106749"/>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90f1f7c857_2_0"/>
            <p:cNvSpPr/>
            <p:nvPr/>
          </p:nvSpPr>
          <p:spPr>
            <a:xfrm>
              <a:off x="0" y="1174243"/>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90f1f7c857_2_0"/>
            <p:cNvSpPr txBox="1"/>
            <p:nvPr/>
          </p:nvSpPr>
          <p:spPr>
            <a:xfrm>
              <a:off x="1462952" y="1174243"/>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Bastian Rodriguez</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Analista Programador</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Desarrollo, análisis de sistemas y requerimientos</a:t>
              </a:r>
              <a:endParaRPr b="0" i="0" sz="1600" u="none" cap="none" strike="noStrike">
                <a:solidFill>
                  <a:schemeClr val="lt1"/>
                </a:solidFill>
                <a:latin typeface="Calibri"/>
                <a:ea typeface="Calibri"/>
                <a:cs typeface="Calibri"/>
                <a:sym typeface="Calibri"/>
              </a:endParaRPr>
            </a:p>
          </p:txBody>
        </p:sp>
        <p:sp>
          <p:nvSpPr>
            <p:cNvPr id="97" name="Google Shape;97;g390f1f7c857_2_0"/>
            <p:cNvSpPr/>
            <p:nvPr/>
          </p:nvSpPr>
          <p:spPr>
            <a:xfrm>
              <a:off x="106749" y="1280992"/>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90f1f7c857_2_0"/>
            <p:cNvSpPr/>
            <p:nvPr/>
          </p:nvSpPr>
          <p:spPr>
            <a:xfrm>
              <a:off x="0" y="2348487"/>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90f1f7c857_2_0"/>
            <p:cNvSpPr txBox="1"/>
            <p:nvPr/>
          </p:nvSpPr>
          <p:spPr>
            <a:xfrm>
              <a:off x="1462952" y="2348487"/>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Jose Miguel Perez</a:t>
              </a:r>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Analista Programador/DBA</a:t>
              </a:r>
              <a:endParaRPr sz="1600">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Desarrollo y mantenimiento de aplicaciones</a:t>
              </a:r>
              <a:endParaRPr/>
            </a:p>
          </p:txBody>
        </p:sp>
        <p:sp>
          <p:nvSpPr>
            <p:cNvPr id="100" name="Google Shape;100;g390f1f7c857_2_0"/>
            <p:cNvSpPr/>
            <p:nvPr/>
          </p:nvSpPr>
          <p:spPr>
            <a:xfrm>
              <a:off x="106749" y="2455236"/>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90f1f7c857_2_0"/>
            <p:cNvSpPr/>
            <p:nvPr/>
          </p:nvSpPr>
          <p:spPr>
            <a:xfrm>
              <a:off x="-1" y="3522734"/>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90f1f7c857_2_0"/>
            <p:cNvSpPr txBox="1"/>
            <p:nvPr/>
          </p:nvSpPr>
          <p:spPr>
            <a:xfrm>
              <a:off x="1462952" y="352273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Daniela Vera Aedo</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QA/Diseñador</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Aseguramiento de la calidad (QA) / Diseño de interfaces</a:t>
              </a:r>
              <a:endParaRPr b="0" i="0" sz="1600" u="none" cap="none" strike="noStrike">
                <a:solidFill>
                  <a:schemeClr val="lt1"/>
                </a:solidFill>
                <a:latin typeface="Calibri"/>
                <a:ea typeface="Calibri"/>
                <a:cs typeface="Calibri"/>
                <a:sym typeface="Calibri"/>
              </a:endParaRPr>
            </a:p>
          </p:txBody>
        </p:sp>
        <p:sp>
          <p:nvSpPr>
            <p:cNvPr id="103" name="Google Shape;103;g390f1f7c857_2_0"/>
            <p:cNvSpPr/>
            <p:nvPr/>
          </p:nvSpPr>
          <p:spPr>
            <a:xfrm>
              <a:off x="106749" y="3629480"/>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4" name="Google Shape;104;g390f1f7c857_2_0"/>
          <p:cNvPicPr preferRelativeResize="0"/>
          <p:nvPr/>
        </p:nvPicPr>
        <p:blipFill>
          <a:blip r:embed="rId3">
            <a:alphaModFix/>
          </a:blip>
          <a:stretch>
            <a:fillRect/>
          </a:stretch>
        </p:blipFill>
        <p:spPr>
          <a:xfrm>
            <a:off x="4579000" y="1540905"/>
            <a:ext cx="1187126" cy="719925"/>
          </a:xfrm>
          <a:prstGeom prst="rect">
            <a:avLst/>
          </a:prstGeom>
          <a:noFill/>
          <a:ln>
            <a:noFill/>
          </a:ln>
        </p:spPr>
      </p:pic>
      <p:pic>
        <p:nvPicPr>
          <p:cNvPr id="105" name="Google Shape;105;g390f1f7c857_2_0"/>
          <p:cNvPicPr preferRelativeResize="0"/>
          <p:nvPr/>
        </p:nvPicPr>
        <p:blipFill>
          <a:blip r:embed="rId3">
            <a:alphaModFix/>
          </a:blip>
          <a:stretch>
            <a:fillRect/>
          </a:stretch>
        </p:blipFill>
        <p:spPr>
          <a:xfrm>
            <a:off x="4579000" y="2714130"/>
            <a:ext cx="1187126" cy="719925"/>
          </a:xfrm>
          <a:prstGeom prst="rect">
            <a:avLst/>
          </a:prstGeom>
          <a:noFill/>
          <a:ln>
            <a:noFill/>
          </a:ln>
        </p:spPr>
      </p:pic>
      <p:pic>
        <p:nvPicPr>
          <p:cNvPr id="106" name="Google Shape;106;g390f1f7c857_2_0"/>
          <p:cNvPicPr preferRelativeResize="0"/>
          <p:nvPr/>
        </p:nvPicPr>
        <p:blipFill>
          <a:blip r:embed="rId3">
            <a:alphaModFix/>
          </a:blip>
          <a:stretch>
            <a:fillRect/>
          </a:stretch>
        </p:blipFill>
        <p:spPr>
          <a:xfrm>
            <a:off x="4579000" y="3887355"/>
            <a:ext cx="1187126" cy="719925"/>
          </a:xfrm>
          <a:prstGeom prst="rect">
            <a:avLst/>
          </a:prstGeom>
          <a:noFill/>
          <a:ln>
            <a:noFill/>
          </a:ln>
        </p:spPr>
      </p:pic>
      <p:pic>
        <p:nvPicPr>
          <p:cNvPr id="107" name="Google Shape;107;g390f1f7c857_2_0"/>
          <p:cNvPicPr preferRelativeResize="0"/>
          <p:nvPr/>
        </p:nvPicPr>
        <p:blipFill>
          <a:blip r:embed="rId3">
            <a:alphaModFix/>
          </a:blip>
          <a:stretch>
            <a:fillRect/>
          </a:stretch>
        </p:blipFill>
        <p:spPr>
          <a:xfrm>
            <a:off x="4579000" y="5060580"/>
            <a:ext cx="1187126" cy="719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90f1f7c857_2_96"/>
          <p:cNvSpPr txBox="1"/>
          <p:nvPr>
            <p:ph type="title"/>
          </p:nvPr>
        </p:nvSpPr>
        <p:spPr>
          <a:xfrm>
            <a:off x="725659" y="1110713"/>
            <a:ext cx="10515600" cy="718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Descripción del Proyecto</a:t>
            </a:r>
            <a:endParaRPr/>
          </a:p>
        </p:txBody>
      </p:sp>
      <p:sp>
        <p:nvSpPr>
          <p:cNvPr id="113" name="Google Shape;113;g390f1f7c857_2_96"/>
          <p:cNvSpPr/>
          <p:nvPr/>
        </p:nvSpPr>
        <p:spPr>
          <a:xfrm>
            <a:off x="714909" y="2169769"/>
            <a:ext cx="4427400" cy="40926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Problemática</a:t>
            </a:r>
            <a:endParaRPr/>
          </a:p>
          <a:p>
            <a:pPr indent="0" lvl="0" marL="0" marR="0" rtl="0" algn="ctr">
              <a:spcBef>
                <a:spcPts val="0"/>
              </a:spcBef>
              <a:spcAft>
                <a:spcPts val="0"/>
              </a:spcAft>
              <a:buNone/>
            </a:pPr>
            <a:r>
              <a:t/>
            </a:r>
            <a:endParaRPr i="0" sz="1800" u="sng" cap="none" strike="noStrike">
              <a:solidFill>
                <a:schemeClr val="dk1"/>
              </a:solidFill>
              <a:latin typeface="Calibri"/>
              <a:ea typeface="Calibri"/>
              <a:cs typeface="Calibri"/>
              <a:sym typeface="Calibri"/>
            </a:endParaRPr>
          </a:p>
          <a:p>
            <a:pPr indent="0" lvl="0" marL="0" rtl="0" algn="just">
              <a:spcBef>
                <a:spcPts val="0"/>
              </a:spcBef>
              <a:spcAft>
                <a:spcPts val="0"/>
              </a:spcAft>
              <a:buNone/>
            </a:pPr>
            <a:r>
              <a:rPr lang="es-CL" sz="1100">
                <a:solidFill>
                  <a:schemeClr val="dk1"/>
                </a:solidFill>
              </a:rPr>
              <a:t>Actualmente, Maestranza Industrial S.A. enfrenta importantes desafíos en la gestión de su inventario. Se producen quiebres inesperados de stock que afectan la continuidad operativa, mientras que, en contraste, existen sobreacumulaciones de piezas de baja rotación que generan costos innecesarios. A esto se suman elevados gastos asociados a adquisiciones urgentes, consecuencia directa de la falta de control y previsión. Asimismo, la ausencia de información confiable y actualizada dificulta la planificación de proyectos, impactando en la eficiencia de los procesos y en la capacidad de respuesta de la organización.</a:t>
            </a:r>
            <a:endParaRPr sz="12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p:txBody>
      </p:sp>
      <p:sp>
        <p:nvSpPr>
          <p:cNvPr id="114" name="Google Shape;114;g390f1f7c857_2_96"/>
          <p:cNvSpPr/>
          <p:nvPr/>
        </p:nvSpPr>
        <p:spPr>
          <a:xfrm>
            <a:off x="6912079" y="2233000"/>
            <a:ext cx="4641300" cy="40926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Propuesta de solución</a:t>
            </a:r>
            <a:endParaRPr b="0" i="0" sz="1800" u="sng" cap="none" strike="noStrike">
              <a:solidFill>
                <a:schemeClr val="dk1"/>
              </a:solidFill>
              <a:latin typeface="Calibri"/>
              <a:ea typeface="Calibri"/>
              <a:cs typeface="Calibri"/>
              <a:sym typeface="Calibri"/>
            </a:endParaRPr>
          </a:p>
          <a:p>
            <a:pPr indent="0" lvl="0" marL="0" rtl="0" algn="just">
              <a:lnSpc>
                <a:spcPct val="115000"/>
              </a:lnSpc>
              <a:spcBef>
                <a:spcPts val="1200"/>
              </a:spcBef>
              <a:spcAft>
                <a:spcPts val="0"/>
              </a:spcAft>
              <a:buNone/>
            </a:pPr>
            <a:r>
              <a:rPr lang="es-CL" sz="1100">
                <a:solidFill>
                  <a:schemeClr val="dk1"/>
                </a:solidFill>
              </a:rPr>
              <a:t>La propuesta consiste en una aplicación web responsiva para centralizar y optimizar la gestión de inventarios en Maestranza Industrial S.A. El sistema permitirá registrar ingresos, salidas, ajustes y bajas de piezas, generar alertas automáticas por stock mínimo o vencimiento, y producir reportes exportables en PDF, Excel y CSV. Contará con gestión de usuarios y roles, autenticación segura y trazabilidad de operaciones.</a:t>
            </a:r>
            <a:endParaRPr sz="1100">
              <a:solidFill>
                <a:schemeClr val="dk1"/>
              </a:solidFill>
            </a:endParaRPr>
          </a:p>
          <a:p>
            <a:pPr indent="0" lvl="0" marL="0" rtl="0" algn="just">
              <a:lnSpc>
                <a:spcPct val="115000"/>
              </a:lnSpc>
              <a:spcBef>
                <a:spcPts val="1200"/>
              </a:spcBef>
              <a:spcAft>
                <a:spcPts val="0"/>
              </a:spcAft>
              <a:buNone/>
            </a:pPr>
            <a:r>
              <a:rPr lang="es-CL" sz="1100">
                <a:solidFill>
                  <a:schemeClr val="dk1"/>
                </a:solidFill>
              </a:rPr>
              <a:t>La solución, llamada SIGES, se desarrollará en .NET Core con SQL Server y un frontend en HTML5, CSS3 y JavaScript, siguiendo un patrón arquitectónico modular y escalable, garantizando eficiencia, seguridad y confiabilidad de los datos.</a:t>
            </a:r>
            <a:endParaRPr sz="1100">
              <a:solidFill>
                <a:schemeClr val="dk1"/>
              </a:solidFill>
            </a:endParaRPr>
          </a:p>
          <a:p>
            <a:pPr indent="0" lvl="0" marL="457200" rtl="0" algn="just">
              <a:spcBef>
                <a:spcPts val="1200"/>
              </a:spcBef>
              <a:spcAft>
                <a:spcPts val="0"/>
              </a:spcAft>
              <a:buNone/>
            </a:pPr>
            <a:r>
              <a:t/>
            </a:r>
            <a:endParaRPr sz="1200">
              <a:solidFill>
                <a:schemeClr val="dk1"/>
              </a:solidFill>
              <a:latin typeface="Calibri"/>
              <a:ea typeface="Calibri"/>
              <a:cs typeface="Calibri"/>
              <a:sym typeface="Calibri"/>
            </a:endParaRPr>
          </a:p>
          <a:p>
            <a:pPr indent="0" lvl="0" marL="0" marR="0" rtl="0" algn="just">
              <a:spcBef>
                <a:spcPts val="1200"/>
              </a:spcBef>
              <a:spcAft>
                <a:spcPts val="0"/>
              </a:spcAft>
              <a:buNone/>
            </a:pPr>
            <a:r>
              <a:t/>
            </a:r>
            <a:endParaRPr sz="1800">
              <a:solidFill>
                <a:schemeClr val="dk1"/>
              </a:solidFill>
              <a:latin typeface="Calibri"/>
              <a:ea typeface="Calibri"/>
              <a:cs typeface="Calibri"/>
              <a:sym typeface="Calibri"/>
            </a:endParaRPr>
          </a:p>
        </p:txBody>
      </p:sp>
      <p:sp>
        <p:nvSpPr>
          <p:cNvPr id="115" name="Google Shape;115;g390f1f7c857_2_96"/>
          <p:cNvSpPr/>
          <p:nvPr/>
        </p:nvSpPr>
        <p:spPr>
          <a:xfrm>
            <a:off x="5456903" y="3736258"/>
            <a:ext cx="1140600" cy="757200"/>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90f1f7c857_2_178"/>
          <p:cNvSpPr/>
          <p:nvPr/>
        </p:nvSpPr>
        <p:spPr>
          <a:xfrm>
            <a:off x="614525" y="1999825"/>
            <a:ext cx="10962900" cy="6936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457200" rtl="0" algn="just">
              <a:spcBef>
                <a:spcPts val="0"/>
              </a:spcBef>
              <a:spcAft>
                <a:spcPts val="0"/>
              </a:spcAft>
              <a:buNone/>
            </a:pPr>
            <a:r>
              <a:rPr lang="es-CL" sz="1100">
                <a:solidFill>
                  <a:schemeClr val="dk1"/>
                </a:solidFill>
              </a:rPr>
              <a:t>Construir un sistema de gestión de inventarios automatizado para Maestranza Industrial S.A., que incorpore autenticación, trazabilidad de repuestos y módulos de reportes, con el fin de optimizar tiempos, reducir errores y mejorar la capacidad de planificación de la organización.</a:t>
            </a:r>
            <a:endParaRPr sz="1800">
              <a:solidFill>
                <a:schemeClr val="dk1"/>
              </a:solidFill>
              <a:latin typeface="Calibri"/>
              <a:ea typeface="Calibri"/>
              <a:cs typeface="Calibri"/>
              <a:sym typeface="Calibri"/>
            </a:endParaRPr>
          </a:p>
        </p:txBody>
      </p:sp>
      <p:sp>
        <p:nvSpPr>
          <p:cNvPr id="121" name="Google Shape;121;g390f1f7c857_2_178"/>
          <p:cNvSpPr/>
          <p:nvPr/>
        </p:nvSpPr>
        <p:spPr>
          <a:xfrm>
            <a:off x="614525" y="3578573"/>
            <a:ext cx="10962900" cy="27291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298450" lvl="0" marL="457200" rtl="0" algn="just">
              <a:lnSpc>
                <a:spcPct val="115000"/>
              </a:lnSpc>
              <a:spcBef>
                <a:spcPts val="1200"/>
              </a:spcBef>
              <a:spcAft>
                <a:spcPts val="0"/>
              </a:spcAft>
              <a:buClr>
                <a:schemeClr val="dk1"/>
              </a:buClr>
              <a:buSzPts val="1100"/>
              <a:buChar char="●"/>
            </a:pPr>
            <a:r>
              <a:rPr lang="es-CL" sz="1100">
                <a:solidFill>
                  <a:schemeClr val="dk1"/>
                </a:solidFill>
              </a:rPr>
              <a:t>Optimización de procesos internos: Reducir en un 80% los errores de registro y localización de inventario.</a:t>
            </a:r>
            <a:br>
              <a:rPr lang="es-CL"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s-CL" sz="1100">
                <a:solidFill>
                  <a:schemeClr val="dk1"/>
                </a:solidFill>
              </a:rPr>
              <a:t>Eficiencia en costos: Disminuir en un 30% durante el primer año los gastos asociados a compras reactivas y sobreinventarios.</a:t>
            </a:r>
            <a:br>
              <a:rPr lang="es-CL"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s-CL" sz="1100">
                <a:solidFill>
                  <a:schemeClr val="dk1"/>
                </a:solidFill>
              </a:rPr>
              <a:t>Disponibilidad de información en tiempo real: Garantizar que los jefes de área accedan a datos actualizados para una toma de decisiones estratégica.</a:t>
            </a:r>
            <a:br>
              <a:rPr lang="es-CL"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s-CL" sz="1100">
                <a:solidFill>
                  <a:schemeClr val="dk1"/>
                </a:solidFill>
              </a:rPr>
              <a:t>Satisfacción del cliente interno: Asegurar que las áreas operativas cuenten con piezas críticas en el momento oportuno, evitando retrasos en proyectos de mantención.</a:t>
            </a:r>
            <a:br>
              <a:rPr lang="es-CL"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s-CL" sz="1100">
                <a:solidFill>
                  <a:schemeClr val="dk1"/>
                </a:solidFill>
              </a:rPr>
              <a:t>Transformación digital: Impulsar la modernización tecnológica de la empresa, alineándola con los estándares de la Industria 4.0.</a:t>
            </a:r>
            <a:endParaRPr sz="1800">
              <a:solidFill>
                <a:schemeClr val="dk1"/>
              </a:solidFill>
              <a:latin typeface="Calibri"/>
              <a:ea typeface="Calibri"/>
              <a:cs typeface="Calibri"/>
              <a:sym typeface="Calibri"/>
            </a:endParaRPr>
          </a:p>
        </p:txBody>
      </p:sp>
      <p:sp>
        <p:nvSpPr>
          <p:cNvPr id="122" name="Google Shape;122;g390f1f7c857_2_178"/>
          <p:cNvSpPr txBox="1"/>
          <p:nvPr/>
        </p:nvSpPr>
        <p:spPr>
          <a:xfrm>
            <a:off x="152400" y="1197198"/>
            <a:ext cx="11937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 General</a:t>
            </a:r>
            <a:endParaRPr b="0" i="0" sz="1800" u="none" cap="none" strike="noStrike">
              <a:solidFill>
                <a:schemeClr val="dk1"/>
              </a:solidFill>
              <a:latin typeface="Calibri"/>
              <a:ea typeface="Calibri"/>
              <a:cs typeface="Calibri"/>
              <a:sym typeface="Calibri"/>
            </a:endParaRPr>
          </a:p>
        </p:txBody>
      </p:sp>
      <p:sp>
        <p:nvSpPr>
          <p:cNvPr id="123" name="Google Shape;123;g390f1f7c857_2_178"/>
          <p:cNvSpPr txBox="1"/>
          <p:nvPr/>
        </p:nvSpPr>
        <p:spPr>
          <a:xfrm>
            <a:off x="208075" y="2812750"/>
            <a:ext cx="11937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Objetivos Específicos</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90f1f7c857_2_260"/>
          <p:cNvSpPr txBox="1"/>
          <p:nvPr>
            <p:ph type="title"/>
          </p:nvPr>
        </p:nvSpPr>
        <p:spPr>
          <a:xfrm>
            <a:off x="810065" y="809447"/>
            <a:ext cx="10515600" cy="750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Alcances</a:t>
            </a:r>
            <a:endParaRPr/>
          </a:p>
        </p:txBody>
      </p:sp>
      <p:sp>
        <p:nvSpPr>
          <p:cNvPr id="129" name="Google Shape;129;g390f1f7c857_2_260"/>
          <p:cNvSpPr txBox="1"/>
          <p:nvPr/>
        </p:nvSpPr>
        <p:spPr>
          <a:xfrm>
            <a:off x="914374" y="1664801"/>
            <a:ext cx="100728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chemeClr val="dk1"/>
                </a:solidFill>
                <a:latin typeface="Calibri"/>
                <a:ea typeface="Calibri"/>
                <a:cs typeface="Calibri"/>
                <a:sym typeface="Calibri"/>
              </a:rPr>
              <a:t>Que hace el Sistema:</a:t>
            </a:r>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El proyecto consiste en el diseño e implementación de un sistema centralizado y automatizado para el control de inventarios. La solución permite registrar y actualizar en tiempo real los movimientos de stock, generar alertas automáticas ante niveles críticos, clasificar componentes con códigos únicos y producir reportes históricos y proyectivos exportables. Incorpora políticas de seguridad basadas en roles y una interfaz intuitiva, reduciendo errores y optimizando la planificación de compras. Está diseñado de forma modular y escalable, preparado para futuras integraciones con ERP, CMMS o IoT.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Qué no hace:</a:t>
            </a:r>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El sistema no reemplaza un ERP completo ni gestiona procesos contables, financieros o logísticos externos. Tampoco incluye de manera nativa funciones de mantenimiento de equipos, conexión directa con dispositivos IoT o migración automática de datos históricos, aunque deja abierta la posibilidad de integrar estas capacidades en etapas posteriores.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841416" y="1054442"/>
            <a:ext cx="10515600" cy="752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Funcionales</a:t>
            </a:r>
            <a:endParaRPr/>
          </a:p>
        </p:txBody>
      </p:sp>
      <p:graphicFrame>
        <p:nvGraphicFramePr>
          <p:cNvPr id="135" name="Google Shape;135;p6"/>
          <p:cNvGraphicFramePr/>
          <p:nvPr/>
        </p:nvGraphicFramePr>
        <p:xfrm>
          <a:off x="1127450" y="1807025"/>
          <a:ext cx="3000000" cy="3000000"/>
        </p:xfrm>
        <a:graphic>
          <a:graphicData uri="http://schemas.openxmlformats.org/drawingml/2006/table">
            <a:tbl>
              <a:tblPr>
                <a:noFill/>
                <a:tableStyleId>{A75D7848-8D37-479A-BD84-2734B98EE499}</a:tableStyleId>
              </a:tblPr>
              <a:tblGrid>
                <a:gridCol w="411775"/>
                <a:gridCol w="1957900"/>
                <a:gridCol w="1313025"/>
                <a:gridCol w="2183200"/>
                <a:gridCol w="3263150"/>
                <a:gridCol w="808025"/>
              </a:tblGrid>
              <a:tr h="326250">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RF01</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Registrar piezas y componentes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Permite registrar nuevas piezas en el inventario para mantener stock actualizado.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4472C4"/>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0: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RF02</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Visualizar piezas y componentes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 Supervisor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Muestra listado completo de piezas y su disponibilidad.</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1: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RF03</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Actualizar piezas y componentes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Modifica cantidades, estados o descripciones de piezas existentes.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2: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RF04</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Eliminar piezas y componentes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Da de baja piezas por obsolescencia o error.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3: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RF05</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Búsqueda avanzada de piezas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 Supervisor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Permite buscar por código, nombre, categoría, estado o ubicación.</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4: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RF06</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Registrar ubicación física</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Asigna y gestiona ubicación en bodega/estanterías.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5: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RF07</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Gestionar categorías de piezas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Crea y organiza categorías y etiquetas de piezas.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6: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RF08</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Registrar ingresos de piezas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 entradas al inventario desde compras o devoluciones.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7: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RF09</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Registrar salidas de piezas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 consumos, ventas o bajas de inventario.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8:5"/>
                      </a:ext>
                    </a:extLst>
                  </a:tcPr>
                </a:tc>
              </a:tr>
              <a:tr h="2160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RF10</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Registrar solicitudes internas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Operador, Empleado solicitante</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Permite a usuarios internos solicitar piezas para proyectos.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35:9:5"/>
                      </a:ext>
                    </a:extLst>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838191" y="838668"/>
            <a:ext cx="10515600" cy="723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No Funcionales</a:t>
            </a:r>
            <a:endParaRPr/>
          </a:p>
        </p:txBody>
      </p:sp>
      <p:graphicFrame>
        <p:nvGraphicFramePr>
          <p:cNvPr id="141" name="Google Shape;141;p7"/>
          <p:cNvGraphicFramePr/>
          <p:nvPr/>
        </p:nvGraphicFramePr>
        <p:xfrm>
          <a:off x="798275" y="1562275"/>
          <a:ext cx="3000000" cy="3000000"/>
        </p:xfrm>
        <a:graphic>
          <a:graphicData uri="http://schemas.openxmlformats.org/drawingml/2006/table">
            <a:tbl>
              <a:tblPr>
                <a:noFill/>
                <a:tableStyleId>{A75D7848-8D37-479A-BD84-2734B98EE499}</a:tableStyleId>
              </a:tblPr>
              <a:tblGrid>
                <a:gridCol w="439050"/>
                <a:gridCol w="2087600"/>
                <a:gridCol w="1400025"/>
                <a:gridCol w="2327850"/>
                <a:gridCol w="3479350"/>
                <a:gridCol w="861575"/>
              </a:tblGrid>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RNF01</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Cifrado de datos sensibles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Usuario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Protección de contraseñas y datos críticos mediante encriptación.</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0: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RNF02</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Control de acceso basado en roles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 Supervisor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Cada usuario solo accede a funciones autorizadas.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1: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RNF03</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Registro de logs de auditoría</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Auditor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Registro de operaciones críticas (altas, bajas, cambios de stock).</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2:5"/>
                      </a:ext>
                    </a:extLst>
                  </a:tcPr>
                </a:tc>
              </a:tr>
              <a:tr h="5256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RNF04</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Autenticación segura</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Usuario, Administrador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Acceso al sistema con credenciales seguras y recuperación de contraseña.</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3: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RNF05</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Integración con directorio corporativo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Posibilidad de integrarse con LDAP/Active Directory.</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Futuro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4: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RNF06</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Tiempo de respuesta consultas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Usuario final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Consultas de inventario deben responder en máximo 3 segundos.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5: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RNF07</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Tiempo de actualización de stock</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Administrador, Operador</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Cambios de stock reflejados en menos de 3 segundos.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6:5"/>
                      </a:ext>
                    </a:extLst>
                  </a:tcPr>
                </a:tc>
              </a:tr>
              <a:tr h="5256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RNF08</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Soporte de usuarios concurrentes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Usuario final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Sistema soporta al menos 50 usuarios conectados sin pérdida de rendimiento.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7: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RNF09</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Interfaz intuitiva</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Usuario final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Uso de interfaz amigable, con máximo 3 clics a funciones principales.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8:5"/>
                      </a:ext>
                    </a:extLst>
                  </a:tcPr>
                </a:tc>
              </a:tr>
              <a:tr h="3480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RNF10</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0"/>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Mensajes de error claros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1"/>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 Funcional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2"/>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Usuario final</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3"/>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Notificaciones de error comprensibles y orientativas.</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4"/>
                      </a:ext>
                    </a:extLst>
                  </a:tcPr>
                </a:tc>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Propuesto</a:t>
                      </a:r>
                      <a:endParaRPr sz="1100">
                        <a:latin typeface="Calibri"/>
                        <a:ea typeface="Calibri"/>
                        <a:cs typeface="Calibri"/>
                        <a:sym typeface="Calibri"/>
                      </a:endParaRPr>
                    </a:p>
                  </a:txBody>
                  <a:tcPr marT="91425" marB="91425" marR="28575" marL="28575" anchor="b">
                    <a:lnL cap="flat" cmpd="sng" w="7050">
                      <a:solidFill>
                        <a:srgbClr val="CCCCCC"/>
                      </a:solidFill>
                      <a:prstDash val="solid"/>
                      <a:round/>
                      <a:headEnd len="sm" w="sm" type="none"/>
                      <a:tailEnd len="sm" w="sm" type="none"/>
                    </a:lnL>
                    <a:lnR cap="flat" cmpd="sng" w="7050">
                      <a:solidFill>
                        <a:srgbClr val="CCCCCC"/>
                      </a:solidFill>
                      <a:prstDash val="solid"/>
                      <a:round/>
                      <a:headEnd len="sm" w="sm" type="none"/>
                      <a:tailEnd len="sm" w="sm" type="none"/>
                    </a:lnR>
                    <a:lnT cap="flat" cmpd="sng" w="7050">
                      <a:solidFill>
                        <a:srgbClr val="CCCCCC"/>
                      </a:solidFill>
                      <a:prstDash val="solid"/>
                      <a:round/>
                      <a:headEnd len="sm" w="sm" type="none"/>
                      <a:tailEnd len="sm" w="sm" type="none"/>
                    </a:lnT>
                    <a:lnB cap="flat" cmpd="sng" w="7050">
                      <a:solidFill>
                        <a:srgbClr val="CCCCCC"/>
                      </a:solidFill>
                      <a:prstDash val="solid"/>
                      <a:round/>
                      <a:headEnd len="sm" w="sm" type="none"/>
                      <a:tailEnd len="sm" w="sm" type="none"/>
                    </a:lnB>
                    <a:extLst>
                      <a:ext uri="http://customooxmlschemas.google.com/">
                        <go:slidesCustomData xmlns:go="http://customooxmlschemas.google.com/" cellId="141:9:5"/>
                      </a:ext>
                    </a:extLst>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641252" y="1068511"/>
            <a:ext cx="10515600" cy="52080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Diseño del Sistema</a:t>
            </a:r>
            <a:endParaRPr/>
          </a:p>
        </p:txBody>
      </p:sp>
      <p:sp>
        <p:nvSpPr>
          <p:cNvPr id="147" name="Google Shape;147;p8"/>
          <p:cNvSpPr txBox="1"/>
          <p:nvPr/>
        </p:nvSpPr>
        <p:spPr>
          <a:xfrm>
            <a:off x="757375" y="1848355"/>
            <a:ext cx="99906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Modelo Datos Relacional</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8" name="Google Shape;148;p8"/>
          <p:cNvPicPr preferRelativeResize="0"/>
          <p:nvPr/>
        </p:nvPicPr>
        <p:blipFill>
          <a:blip r:embed="rId3">
            <a:alphaModFix/>
          </a:blip>
          <a:stretch>
            <a:fillRect/>
          </a:stretch>
        </p:blipFill>
        <p:spPr>
          <a:xfrm>
            <a:off x="3364000" y="1649875"/>
            <a:ext cx="8446527" cy="5039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641252" y="1068511"/>
            <a:ext cx="10515600" cy="6441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Diseño del Sistema</a:t>
            </a:r>
            <a:endParaRPr/>
          </a:p>
        </p:txBody>
      </p:sp>
      <p:sp>
        <p:nvSpPr>
          <p:cNvPr id="154" name="Google Shape;154;p9"/>
          <p:cNvSpPr txBox="1"/>
          <p:nvPr/>
        </p:nvSpPr>
        <p:spPr>
          <a:xfrm>
            <a:off x="725714" y="1712687"/>
            <a:ext cx="1082503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Diagrama de Caso Uso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55" name="Google Shape;155;p9" title="1.png"/>
          <p:cNvPicPr preferRelativeResize="0"/>
          <p:nvPr/>
        </p:nvPicPr>
        <p:blipFill>
          <a:blip r:embed="rId3">
            <a:alphaModFix/>
          </a:blip>
          <a:stretch>
            <a:fillRect/>
          </a:stretch>
        </p:blipFill>
        <p:spPr>
          <a:xfrm>
            <a:off x="5197575" y="1209175"/>
            <a:ext cx="6353175" cy="5276628"/>
          </a:xfrm>
          <a:prstGeom prst="rect">
            <a:avLst/>
          </a:prstGeom>
          <a:noFill/>
          <a:ln>
            <a:noFill/>
          </a:ln>
        </p:spPr>
      </p:pic>
      <p:pic>
        <p:nvPicPr>
          <p:cNvPr id="156" name="Google Shape;156;p9" title="4.png"/>
          <p:cNvPicPr preferRelativeResize="0"/>
          <p:nvPr/>
        </p:nvPicPr>
        <p:blipFill>
          <a:blip r:embed="rId4">
            <a:alphaModFix/>
          </a:blip>
          <a:stretch>
            <a:fillRect/>
          </a:stretch>
        </p:blipFill>
        <p:spPr>
          <a:xfrm>
            <a:off x="192224" y="2676573"/>
            <a:ext cx="4634325" cy="3360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567899" y="816808"/>
            <a:ext cx="10515600" cy="636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Arquitectura del Sistema</a:t>
            </a:r>
            <a:endParaRPr/>
          </a:p>
        </p:txBody>
      </p:sp>
      <p:sp>
        <p:nvSpPr>
          <p:cNvPr id="162" name="Google Shape;162;p10"/>
          <p:cNvSpPr txBox="1"/>
          <p:nvPr/>
        </p:nvSpPr>
        <p:spPr>
          <a:xfrm>
            <a:off x="508386" y="1416951"/>
            <a:ext cx="108249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Patrón arquitectónico seleccionado para el desarrollo y Diagrama Vista Física: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3" name="Google Shape;163;p10" title="Arquitectura del sistema.png"/>
          <p:cNvPicPr preferRelativeResize="0"/>
          <p:nvPr/>
        </p:nvPicPr>
        <p:blipFill>
          <a:blip r:embed="rId3">
            <a:alphaModFix/>
          </a:blip>
          <a:stretch>
            <a:fillRect/>
          </a:stretch>
        </p:blipFill>
        <p:spPr>
          <a:xfrm>
            <a:off x="3960238" y="1862400"/>
            <a:ext cx="3921175" cy="4865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706567" y="901597"/>
            <a:ext cx="10515600" cy="5861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Arquitectura del Sistema</a:t>
            </a:r>
            <a:endParaRPr/>
          </a:p>
        </p:txBody>
      </p:sp>
      <p:sp>
        <p:nvSpPr>
          <p:cNvPr id="169" name="Google Shape;169;p11"/>
          <p:cNvSpPr txBox="1"/>
          <p:nvPr/>
        </p:nvSpPr>
        <p:spPr>
          <a:xfrm>
            <a:off x="757367" y="1558071"/>
            <a:ext cx="989422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Diagramas de Actividades (incluir solo aquellos 3 más importantes del negocio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 name="Google Shape;170;p11"/>
          <p:cNvPicPr preferRelativeResize="0"/>
          <p:nvPr/>
        </p:nvPicPr>
        <p:blipFill>
          <a:blip r:embed="rId3">
            <a:alphaModFix/>
          </a:blip>
          <a:stretch>
            <a:fillRect/>
          </a:stretch>
        </p:blipFill>
        <p:spPr>
          <a:xfrm>
            <a:off x="620800" y="2225978"/>
            <a:ext cx="3489394" cy="4007825"/>
          </a:xfrm>
          <a:prstGeom prst="rect">
            <a:avLst/>
          </a:prstGeom>
          <a:noFill/>
          <a:ln>
            <a:noFill/>
          </a:ln>
        </p:spPr>
      </p:pic>
      <p:pic>
        <p:nvPicPr>
          <p:cNvPr id="171" name="Google Shape;171;p11"/>
          <p:cNvPicPr preferRelativeResize="0"/>
          <p:nvPr/>
        </p:nvPicPr>
        <p:blipFill>
          <a:blip r:embed="rId4">
            <a:alphaModFix/>
          </a:blip>
          <a:stretch>
            <a:fillRect/>
          </a:stretch>
        </p:blipFill>
        <p:spPr>
          <a:xfrm>
            <a:off x="4501737" y="2225978"/>
            <a:ext cx="3399857" cy="4007825"/>
          </a:xfrm>
          <a:prstGeom prst="rect">
            <a:avLst/>
          </a:prstGeom>
          <a:noFill/>
          <a:ln>
            <a:noFill/>
          </a:ln>
        </p:spPr>
      </p:pic>
      <p:pic>
        <p:nvPicPr>
          <p:cNvPr id="172" name="Google Shape;172;p11"/>
          <p:cNvPicPr preferRelativeResize="0"/>
          <p:nvPr/>
        </p:nvPicPr>
        <p:blipFill>
          <a:blip r:embed="rId5">
            <a:alphaModFix/>
          </a:blip>
          <a:stretch>
            <a:fillRect/>
          </a:stretch>
        </p:blipFill>
        <p:spPr>
          <a:xfrm>
            <a:off x="8293120" y="2225978"/>
            <a:ext cx="2929051" cy="40078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90f1f7c857_2_340"/>
          <p:cNvSpPr txBox="1"/>
          <p:nvPr>
            <p:ph type="title"/>
          </p:nvPr>
        </p:nvSpPr>
        <p:spPr>
          <a:xfrm>
            <a:off x="641252" y="1068511"/>
            <a:ext cx="10515600" cy="644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Tecnologías del Desarrollo</a:t>
            </a:r>
            <a:endParaRPr/>
          </a:p>
        </p:txBody>
      </p:sp>
      <p:sp>
        <p:nvSpPr>
          <p:cNvPr id="178" name="Google Shape;178;g390f1f7c857_2_340"/>
          <p:cNvSpPr txBox="1"/>
          <p:nvPr/>
        </p:nvSpPr>
        <p:spPr>
          <a:xfrm>
            <a:off x="665402" y="2162116"/>
            <a:ext cx="10861200" cy="3509400"/>
          </a:xfrm>
          <a:prstGeom prst="rect">
            <a:avLst/>
          </a:prstGeom>
          <a:noFill/>
          <a:ln>
            <a:noFill/>
          </a:ln>
        </p:spPr>
        <p:txBody>
          <a:bodyPr anchorCtr="0" anchor="ctr" bIns="45700" lIns="91425" spcFirstLastPara="1" rIns="91425" wrap="square" tIns="45700">
            <a:noAutofit/>
          </a:bodyPr>
          <a:lstStyle/>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Lenguaje y Framework: .NET Core (C#) – Framework de desarrollo multiplataforma, orientado a objetos.</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Base de datos: Microsoft SQL Server – Soporte para procedimientos almacenados, seguridad de datos, respaldo y restauración.</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Frontend: HTML5, CSS3, JavaScript – Desarrollo de interfaces responsivas.</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Framework adicional: Bootstrap o Tailwind CSS para diseño adaptativo.</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Control de versiones: Git/GitHub para gestión de código.</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Entorno de desarrollo: Visual Studio 2022, SQL Server Management Studio.</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Pruebas: NUnit / MSTest para pruebas unitarias.</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CL">
                <a:solidFill>
                  <a:schemeClr val="dk1"/>
                </a:solidFill>
                <a:latin typeface="Calibri"/>
                <a:ea typeface="Calibri"/>
                <a:cs typeface="Calibri"/>
                <a:sym typeface="Calibri"/>
              </a:rPr>
              <a:t>Gestión de proyecto: Jira o Trello para planificación y seguimiento ágil.</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753794" y="70274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Planificación</a:t>
            </a:r>
            <a:endParaRPr/>
          </a:p>
        </p:txBody>
      </p:sp>
      <p:graphicFrame>
        <p:nvGraphicFramePr>
          <p:cNvPr id="184" name="Google Shape;184;p13"/>
          <p:cNvGraphicFramePr/>
          <p:nvPr/>
        </p:nvGraphicFramePr>
        <p:xfrm>
          <a:off x="531100" y="2139775"/>
          <a:ext cx="3000000" cy="3000000"/>
        </p:xfrm>
        <a:graphic>
          <a:graphicData uri="http://schemas.openxmlformats.org/drawingml/2006/table">
            <a:tbl>
              <a:tblPr>
                <a:noFill/>
                <a:tableStyleId>{A50D4517-D457-435A-9ADC-99DFF23E313F}</a:tableStyleId>
              </a:tblPr>
              <a:tblGrid>
                <a:gridCol w="3647125"/>
                <a:gridCol w="1775925"/>
              </a:tblGrid>
              <a:tr h="343225">
                <a:tc>
                  <a:txBody>
                    <a:bodyPr/>
                    <a:lstStyle/>
                    <a:p>
                      <a:pPr indent="0" lvl="0" marL="0" rtl="0" algn="just">
                        <a:spcBef>
                          <a:spcPts val="200"/>
                        </a:spcBef>
                        <a:spcAft>
                          <a:spcPts val="0"/>
                        </a:spcAft>
                        <a:buNone/>
                      </a:pPr>
                      <a:r>
                        <a:rPr b="1" lang="es-CL" sz="1200">
                          <a:latin typeface="Calibri"/>
                          <a:ea typeface="Calibri"/>
                          <a:cs typeface="Calibri"/>
                          <a:sym typeface="Calibri"/>
                        </a:rPr>
                        <a:t>Hito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b="1" lang="es-CL" sz="1200">
                          <a:latin typeface="Calibri"/>
                          <a:ea typeface="Calibri"/>
                          <a:cs typeface="Calibri"/>
                          <a:sym typeface="Calibri"/>
                        </a:rPr>
                        <a:t>Fecha Tope</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b="1" lang="es-CL" sz="1200">
                          <a:latin typeface="Calibri"/>
                          <a:ea typeface="Calibri"/>
                          <a:cs typeface="Calibri"/>
                          <a:sym typeface="Calibri"/>
                        </a:rPr>
                        <a:t>Inicio del Proyecto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13-08-2025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Acta de Constitución aprobada</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20-08-2025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Definición de requerimientos generales</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22-08-2025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Organización del equipo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22-08-2025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Captura de requerimientos específicos completada</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05-09-2025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Documento de Arquitectura SW entregado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05-09-2025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Documento de Casos de Uso aprobado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12-09-2025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Prototipos iniciales presentados</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12-09-2025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Documento ERS validado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19-09-2025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Ambiente de desarrollo implementado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26-09-2025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3225">
                <a:tc>
                  <a:txBody>
                    <a:bodyPr/>
                    <a:lstStyle/>
                    <a:p>
                      <a:pPr indent="0" lvl="0" marL="0" rtl="0" algn="just">
                        <a:spcBef>
                          <a:spcPts val="200"/>
                        </a:spcBef>
                        <a:spcAft>
                          <a:spcPts val="0"/>
                        </a:spcAft>
                        <a:buNone/>
                      </a:pPr>
                      <a:r>
                        <a:rPr lang="es-CL" sz="1200">
                          <a:latin typeface="Calibri"/>
                          <a:ea typeface="Calibri"/>
                          <a:cs typeface="Calibri"/>
                          <a:sym typeface="Calibri"/>
                        </a:rPr>
                        <a:t>Base de datos creada (scripts iniciales)</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03-10-2025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graphicFrame>
        <p:nvGraphicFramePr>
          <p:cNvPr id="185" name="Google Shape;185;p13"/>
          <p:cNvGraphicFramePr/>
          <p:nvPr/>
        </p:nvGraphicFramePr>
        <p:xfrm>
          <a:off x="6166375" y="2179825"/>
          <a:ext cx="3000000" cy="3000000"/>
        </p:xfrm>
        <a:graphic>
          <a:graphicData uri="http://schemas.openxmlformats.org/drawingml/2006/table">
            <a:tbl>
              <a:tblPr>
                <a:noFill/>
                <a:tableStyleId>{A50D4517-D457-435A-9ADC-99DFF23E313F}</a:tableStyleId>
              </a:tblPr>
              <a:tblGrid>
                <a:gridCol w="3647125"/>
                <a:gridCol w="1775925"/>
              </a:tblGrid>
              <a:tr h="317500">
                <a:tc>
                  <a:txBody>
                    <a:bodyPr/>
                    <a:lstStyle/>
                    <a:p>
                      <a:pPr indent="0" lvl="0" marL="0" rtl="0" algn="just">
                        <a:spcBef>
                          <a:spcPts val="200"/>
                        </a:spcBef>
                        <a:spcAft>
                          <a:spcPts val="0"/>
                        </a:spcAft>
                        <a:buNone/>
                      </a:pPr>
                      <a:r>
                        <a:rPr b="1" lang="es-CL" sz="1200">
                          <a:latin typeface="Calibri"/>
                          <a:ea typeface="Calibri"/>
                          <a:cs typeface="Calibri"/>
                          <a:sym typeface="Calibri"/>
                        </a:rPr>
                        <a:t>Sprint 1 – Inventario Base completado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10-10-2025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b="1" lang="es-CL" sz="1200">
                          <a:latin typeface="Calibri"/>
                          <a:ea typeface="Calibri"/>
                          <a:cs typeface="Calibri"/>
                          <a:sym typeface="Calibri"/>
                        </a:rPr>
                        <a:t>Sprint 2 – Movimientos de Inventario completado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24-10-2025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b="1" lang="es-CL" sz="1200">
                          <a:latin typeface="Calibri"/>
                          <a:ea typeface="Calibri"/>
                          <a:cs typeface="Calibri"/>
                          <a:sym typeface="Calibri"/>
                        </a:rPr>
                        <a:t>Sprint 3 – Alertas y Umbrales completado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31-10-2025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b="1" lang="es-CL" sz="1200">
                          <a:latin typeface="Calibri"/>
                          <a:ea typeface="Calibri"/>
                          <a:cs typeface="Calibri"/>
                          <a:sym typeface="Calibri"/>
                        </a:rPr>
                        <a:t>Sprint 4 – Seguridad y Analítica completado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10-11-2025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b="1" lang="es-CL" sz="1200">
                          <a:latin typeface="Calibri"/>
                          <a:ea typeface="Calibri"/>
                          <a:cs typeface="Calibri"/>
                          <a:sym typeface="Calibri"/>
                        </a:rPr>
                        <a:t>Sprint 5 – Proveedores e Infraestructura completo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17-11-2025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Inicio de pruebas y QA</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18-11-2025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Pruebas con usuarios terminadas</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24-11-2025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Capacitación de usuarios clave</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26-11-2025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Migración a Producción</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28-11-2025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Entrega de manuales de usuario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01-12-2025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lang="es-CL" sz="1200">
                          <a:latin typeface="Calibri"/>
                          <a:ea typeface="Calibri"/>
                          <a:cs typeface="Calibri"/>
                          <a:sym typeface="Calibri"/>
                        </a:rPr>
                        <a:t>Informe de cierre entregado</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02-12-2025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17500">
                <a:tc>
                  <a:txBody>
                    <a:bodyPr/>
                    <a:lstStyle/>
                    <a:p>
                      <a:pPr indent="0" lvl="0" marL="0" rtl="0" algn="just">
                        <a:spcBef>
                          <a:spcPts val="200"/>
                        </a:spcBef>
                        <a:spcAft>
                          <a:spcPts val="0"/>
                        </a:spcAft>
                        <a:buNone/>
                      </a:pPr>
                      <a:r>
                        <a:rPr b="1" lang="es-CL" sz="1200">
                          <a:latin typeface="Calibri"/>
                          <a:ea typeface="Calibri"/>
                          <a:cs typeface="Calibri"/>
                          <a:sym typeface="Calibri"/>
                        </a:rPr>
                        <a:t>Cierre del Proyecto / Entrega Final</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just">
                        <a:spcBef>
                          <a:spcPts val="200"/>
                        </a:spcBef>
                        <a:spcAft>
                          <a:spcPts val="0"/>
                        </a:spcAft>
                        <a:buNone/>
                      </a:pPr>
                      <a:r>
                        <a:rPr lang="es-CL" sz="1200">
                          <a:latin typeface="Calibri"/>
                          <a:ea typeface="Calibri"/>
                          <a:cs typeface="Calibri"/>
                          <a:sym typeface="Calibri"/>
                        </a:rPr>
                        <a:t>03-12-2025</a:t>
                      </a:r>
                      <a:endParaRPr sz="12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90f1f7c857_2_420"/>
          <p:cNvSpPr txBox="1"/>
          <p:nvPr>
            <p:ph type="title"/>
          </p:nvPr>
        </p:nvSpPr>
        <p:spPr>
          <a:xfrm>
            <a:off x="706567" y="901597"/>
            <a:ext cx="10515600" cy="586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lang="es-CL"/>
              <a:t>Resumen de Costos Estimados del Proyecto</a:t>
            </a:r>
            <a:endParaRPr/>
          </a:p>
        </p:txBody>
      </p:sp>
      <p:graphicFrame>
        <p:nvGraphicFramePr>
          <p:cNvPr id="191" name="Google Shape;191;g390f1f7c857_2_420"/>
          <p:cNvGraphicFramePr/>
          <p:nvPr/>
        </p:nvGraphicFramePr>
        <p:xfrm>
          <a:off x="1483950" y="1670800"/>
          <a:ext cx="3000000" cy="3000000"/>
        </p:xfrm>
        <a:graphic>
          <a:graphicData uri="http://schemas.openxmlformats.org/drawingml/2006/table">
            <a:tbl>
              <a:tblPr>
                <a:noFill/>
                <a:tableStyleId>{A75D7848-8D37-479A-BD84-2734B98EE499}</a:tableStyleId>
              </a:tblPr>
              <a:tblGrid>
                <a:gridCol w="2555100"/>
                <a:gridCol w="2263075"/>
              </a:tblGrid>
              <a:tr h="316475">
                <a:tc gridSpan="2">
                  <a:txBody>
                    <a:bodyPr/>
                    <a:lstStyle/>
                    <a:p>
                      <a:pPr indent="0" lvl="0" marL="0" rtl="0" algn="ctr">
                        <a:lnSpc>
                          <a:spcPct val="115000"/>
                        </a:lnSpc>
                        <a:spcBef>
                          <a:spcPts val="0"/>
                        </a:spcBef>
                        <a:spcAft>
                          <a:spcPts val="0"/>
                        </a:spcAft>
                        <a:buNone/>
                      </a:pPr>
                      <a:r>
                        <a:rPr lang="es-CL" sz="1100">
                          <a:latin typeface="Calibri"/>
                          <a:ea typeface="Calibri"/>
                          <a:cs typeface="Calibri"/>
                          <a:sym typeface="Calibri"/>
                        </a:rPr>
                        <a:t>COSTO POR FASE</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BFBFBF"/>
                    </a:solidFill>
                  </a:tcPr>
                </a:tc>
                <a:tc hMerge="1"/>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Fase de Planificación</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$ 185.930</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Fase de Análisis y Diseño</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$ 417.052</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Fase de Desarrollo</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$ 344.466</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Sprint 1 – Inventario Base</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$ 229.644</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Sprint 2 – Movimientos de Inventario</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$ 459.288</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Sprint 3 – Alertas y Umbrales</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$ 459.288</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Sprint 4 – Seguridad y Analítica</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$ 507.438</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7792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Sprint 5 – Proveedores e Infraestructura</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$ 644.484</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Fase de Pruebas y QA</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$ 328.857</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164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Fase de Implementación y Cierre</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$ 581.492</a:t>
                      </a:r>
                      <a:endParaRPr sz="11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600">
                <a:tc>
                  <a:txBody>
                    <a:bodyPr/>
                    <a:lstStyle/>
                    <a:p>
                      <a:pPr indent="0" lvl="0" marL="0" rtl="0" algn="l">
                        <a:lnSpc>
                          <a:spcPct val="115000"/>
                        </a:lnSpc>
                        <a:spcBef>
                          <a:spcPts val="0"/>
                        </a:spcBef>
                        <a:spcAft>
                          <a:spcPts val="0"/>
                        </a:spcAft>
                        <a:buNone/>
                      </a:pPr>
                      <a:r>
                        <a:rPr b="1" lang="es-CL" sz="1200">
                          <a:latin typeface="Calibri"/>
                          <a:ea typeface="Calibri"/>
                          <a:cs typeface="Calibri"/>
                          <a:sym typeface="Calibri"/>
                        </a:rPr>
                        <a:t>TOTAL HH FASES</a:t>
                      </a:r>
                      <a:endParaRPr b="1" sz="12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F2F2F2"/>
                    </a:solidFill>
                  </a:tcPr>
                </a:tc>
                <a:tc>
                  <a:txBody>
                    <a:bodyPr/>
                    <a:lstStyle/>
                    <a:p>
                      <a:pPr indent="0" lvl="0" marL="0" rtl="0" algn="r">
                        <a:lnSpc>
                          <a:spcPct val="115000"/>
                        </a:lnSpc>
                        <a:spcBef>
                          <a:spcPts val="0"/>
                        </a:spcBef>
                        <a:spcAft>
                          <a:spcPts val="0"/>
                        </a:spcAft>
                        <a:buNone/>
                      </a:pPr>
                      <a:r>
                        <a:rPr b="1" lang="es-CL" sz="1200">
                          <a:latin typeface="Calibri"/>
                          <a:ea typeface="Calibri"/>
                          <a:cs typeface="Calibri"/>
                          <a:sym typeface="Calibri"/>
                        </a:rPr>
                        <a:t>$ 4.157.939</a:t>
                      </a:r>
                      <a:endParaRPr b="1" sz="1200">
                        <a:latin typeface="Calibri"/>
                        <a:ea typeface="Calibri"/>
                        <a:cs typeface="Calibri"/>
                        <a:sym typeface="Calibri"/>
                      </a:endParaRPr>
                    </a:p>
                  </a:txBody>
                  <a:tcPr marT="91425" marB="91425"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F2F2F2"/>
                    </a:solidFill>
                  </a:tcPr>
                </a:tc>
              </a:tr>
            </a:tbl>
          </a:graphicData>
        </a:graphic>
      </p:graphicFrame>
      <p:graphicFrame>
        <p:nvGraphicFramePr>
          <p:cNvPr id="192" name="Google Shape;192;g390f1f7c857_2_420"/>
          <p:cNvGraphicFramePr/>
          <p:nvPr/>
        </p:nvGraphicFramePr>
        <p:xfrm>
          <a:off x="6714500" y="3164200"/>
          <a:ext cx="3000000" cy="3000000"/>
        </p:xfrm>
        <a:graphic>
          <a:graphicData uri="http://schemas.openxmlformats.org/drawingml/2006/table">
            <a:tbl>
              <a:tblPr>
                <a:noFill/>
                <a:tableStyleId>{A75D7848-8D37-479A-BD84-2734B98EE499}</a:tableStyleId>
              </a:tblPr>
              <a:tblGrid>
                <a:gridCol w="2333625"/>
                <a:gridCol w="2066925"/>
              </a:tblGrid>
              <a:tr h="180975">
                <a:tc>
                  <a:txBody>
                    <a:bodyPr/>
                    <a:lstStyle/>
                    <a:p>
                      <a:pPr indent="0" lvl="0" marL="0" rtl="0" algn="ctr">
                        <a:lnSpc>
                          <a:spcPct val="115000"/>
                        </a:lnSpc>
                        <a:spcBef>
                          <a:spcPts val="0"/>
                        </a:spcBef>
                        <a:spcAft>
                          <a:spcPts val="0"/>
                        </a:spcAft>
                        <a:buNone/>
                      </a:pPr>
                      <a:r>
                        <a:rPr lang="es-CL" sz="1100">
                          <a:latin typeface="Calibri"/>
                          <a:ea typeface="Calibri"/>
                          <a:cs typeface="Calibri"/>
                          <a:sym typeface="Calibri"/>
                        </a:rPr>
                        <a:t>Margen</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BFBFBF"/>
                    </a:solidFill>
                    <a:extLst>
                      <a:ext uri="http://customooxmlschemas.google.com/">
                        <go:slidesCustomData xmlns:go="http://customooxmlschemas.google.com/" cellId="192:0:0"/>
                      </a:ext>
                    </a:extLst>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60%</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extLst>
                      <a:ext uri="http://customooxmlschemas.google.com/">
                        <go:slidesCustomData xmlns:go="http://customooxmlschemas.google.com/" cellId="192:0:1"/>
                      </a:ext>
                    </a:extLst>
                  </a:tcPr>
                </a:tc>
              </a:tr>
              <a:tr h="1809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UTILIDAD</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extLst>
                      <a:ext uri="http://customooxmlschemas.google.com/">
                        <go:slidesCustomData xmlns:go="http://customooxmlschemas.google.com/" cellId="192:1:0"/>
                      </a:ext>
                    </a:extLst>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$ 2.494.763</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extLst>
                      <a:ext uri="http://customooxmlschemas.google.com/">
                        <go:slidesCustomData xmlns:go="http://customooxmlschemas.google.com/" cellId="192:1:1"/>
                      </a:ext>
                    </a:extLst>
                  </a:tcPr>
                </a:tc>
              </a:tr>
              <a:tr h="180975">
                <a:tc>
                  <a:txBody>
                    <a:bodyPr/>
                    <a:lstStyle/>
                    <a:p>
                      <a:pPr indent="0" lvl="0" marL="0" rtl="0" algn="l">
                        <a:lnSpc>
                          <a:spcPct val="115000"/>
                        </a:lnSpc>
                        <a:spcBef>
                          <a:spcPts val="0"/>
                        </a:spcBef>
                        <a:spcAft>
                          <a:spcPts val="0"/>
                        </a:spcAft>
                        <a:buNone/>
                      </a:pPr>
                      <a:r>
                        <a:rPr lang="es-CL" sz="1100">
                          <a:latin typeface="Calibri"/>
                          <a:ea typeface="Calibri"/>
                          <a:cs typeface="Calibri"/>
                          <a:sym typeface="Calibri"/>
                        </a:rPr>
                        <a:t>PRECIO FINAL</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extLst>
                      <a:ext uri="http://customooxmlschemas.google.com/">
                        <go:slidesCustomData xmlns:go="http://customooxmlschemas.google.com/" cellId="192:2:0"/>
                      </a:ext>
                    </a:extLst>
                  </a:tcPr>
                </a:tc>
                <a:tc>
                  <a:txBody>
                    <a:bodyPr/>
                    <a:lstStyle/>
                    <a:p>
                      <a:pPr indent="0" lvl="0" marL="0" rtl="0" algn="r">
                        <a:lnSpc>
                          <a:spcPct val="115000"/>
                        </a:lnSpc>
                        <a:spcBef>
                          <a:spcPts val="0"/>
                        </a:spcBef>
                        <a:spcAft>
                          <a:spcPts val="0"/>
                        </a:spcAft>
                        <a:buNone/>
                      </a:pPr>
                      <a:r>
                        <a:rPr lang="es-CL" sz="1100">
                          <a:latin typeface="Calibri"/>
                          <a:ea typeface="Calibri"/>
                          <a:cs typeface="Calibri"/>
                          <a:sym typeface="Calibri"/>
                        </a:rPr>
                        <a:t>$ 6.652.702</a:t>
                      </a:r>
                      <a:endParaRPr sz="1100">
                        <a:latin typeface="Calibri"/>
                        <a:ea typeface="Calibri"/>
                        <a:cs typeface="Calibri"/>
                        <a:sym typeface="Calibri"/>
                      </a:endParaRPr>
                    </a:p>
                  </a:txBody>
                  <a:tcPr marT="91425" marB="91425" marR="28575" marL="28575" anchor="b">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extLst>
                      <a:ext uri="http://customooxmlschemas.google.com/">
                        <go:slidesCustomData xmlns:go="http://customooxmlschemas.google.com/" cellId="192:2:1"/>
                      </a:ext>
                    </a:extLst>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nvSpPr>
        <p:spPr>
          <a:xfrm>
            <a:off x="565108" y="1372220"/>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s-CL" sz="4400">
                <a:solidFill>
                  <a:schemeClr val="dk1"/>
                </a:solidFill>
                <a:latin typeface="Calibri"/>
                <a:ea typeface="Calibri"/>
                <a:cs typeface="Calibri"/>
                <a:sym typeface="Calibri"/>
              </a:rPr>
              <a:t>Presentación del sistema desarrollado en vivo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2015-07-01T15:45:01Z</dcterms:created>
  <dc:creator>Sala_</dc:creator>
</cp:coreProperties>
</file>